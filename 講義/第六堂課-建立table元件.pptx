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12"/>
  </p:notesMasterIdLst>
  <p:handoutMasterIdLst>
    <p:handoutMasterId r:id="rId13"/>
  </p:handoutMasterIdLst>
  <p:sldIdLst>
    <p:sldId id="523" r:id="rId5"/>
    <p:sldId id="600" r:id="rId6"/>
    <p:sldId id="579" r:id="rId7"/>
    <p:sldId id="609" r:id="rId8"/>
    <p:sldId id="601" r:id="rId9"/>
    <p:sldId id="602" r:id="rId10"/>
    <p:sldId id="526" r:id="rId11"/>
  </p:sldIdLst>
  <p:sldSz cx="12192000" cy="6858000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790" userDrawn="1">
          <p15:clr>
            <a:srgbClr val="A4A3A4"/>
          </p15:clr>
        </p15:guide>
        <p15:guide id="3" orient="horz" pos="663" userDrawn="1">
          <p15:clr>
            <a:srgbClr val="A4A3A4"/>
          </p15:clr>
        </p15:guide>
        <p15:guide id="4" orient="horz" pos="2137" userDrawn="1">
          <p15:clr>
            <a:srgbClr val="A4A3A4"/>
          </p15:clr>
        </p15:guide>
        <p15:guide id="5" pos="384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DD8047"/>
    <a:srgbClr val="5E7F9A"/>
    <a:srgbClr val="404756"/>
    <a:srgbClr val="F2F2F2"/>
    <a:srgbClr val="1F77B4"/>
    <a:srgbClr val="6A6A6A"/>
    <a:srgbClr val="2183A5"/>
    <a:srgbClr val="31BBD5"/>
    <a:srgbClr val="F0B2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79" autoAdjust="0"/>
    <p:restoredTop sz="91853" autoAdjust="0"/>
  </p:normalViewPr>
  <p:slideViewPr>
    <p:cSldViewPr snapToGrid="0">
      <p:cViewPr varScale="1">
        <p:scale>
          <a:sx n="59" d="100"/>
          <a:sy n="59" d="100"/>
        </p:scale>
        <p:origin x="72" y="588"/>
      </p:cViewPr>
      <p:guideLst>
        <p:guide pos="5790"/>
        <p:guide orient="horz" pos="663"/>
        <p:guide orient="horz" pos="2137"/>
        <p:guide pos="384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978" y="108"/>
      </p:cViewPr>
      <p:guideLst>
        <p:guide orient="horz" pos="2880"/>
        <p:guide pos="2160"/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FD09B-FFE9-4BAC-AACE-1331FB8C37FE}" type="datetimeFigureOut">
              <a:rPr lang="zh-TW" altLang="en-US" smtClean="0"/>
              <a:t>2024/8/12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B39BF-ABA5-4686-A5C2-91F89789E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006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F907CDE-9D10-4432-877C-82E2D273EBB9}" type="datetimeFigureOut">
              <a:rPr lang="zh-TW" altLang="en-US"/>
              <a:pPr>
                <a:defRPr/>
              </a:pPr>
              <a:t>2024/8/12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9694207F-D22D-46B9-826F-96C96AECF43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346457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4207F-D22D-46B9-826F-96C96AECF432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204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4207F-D22D-46B9-826F-96C96AECF432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250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4207F-D22D-46B9-826F-96C96AECF432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7737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4207F-D22D-46B9-826F-96C96AECF432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3425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052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000" y="0"/>
            <a:ext cx="44767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 userDrawn="1"/>
        </p:nvSpPr>
        <p:spPr>
          <a:xfrm>
            <a:off x="360000" y="6516000"/>
            <a:ext cx="4320000" cy="252000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Autofit/>
          </a:bodyPr>
          <a:lstStyle/>
          <a:p>
            <a:r>
              <a:rPr lang="en-US" altLang="zh-TW" sz="1400" dirty="0"/>
              <a:t>©</a:t>
            </a:r>
            <a:r>
              <a:rPr lang="en-US" altLang="zh-TW" sz="1050" dirty="0"/>
              <a:t> </a:t>
            </a:r>
            <a:r>
              <a:rPr lang="en-US" altLang="zh-TW" sz="1100" dirty="0"/>
              <a:t>2022 TRADE-VAN</a:t>
            </a:r>
            <a:r>
              <a:rPr lang="en-US" altLang="zh-TW" sz="1100" baseline="0" dirty="0"/>
              <a:t> Information Service Co. All rights reserved.</a:t>
            </a:r>
            <a:endParaRPr lang="zh-TW" altLang="en-US" sz="1100" dirty="0"/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7700" l="0" r="98182">
                        <a14:foregroundMark x1="25175" y1="58898" x2="18881" y2="0"/>
                        <a14:foregroundMark x1="54266" y1="30145" x2="18881" y2="0"/>
                        <a14:foregroundMark x1="33706" y1="16404" x2="19161" y2="3814"/>
                        <a14:foregroundMark x1="28811" y1="60835" x2="22797" y2="9625"/>
                        <a14:foregroundMark x1="52308" y1="28450" x2="96224" y2="65860"/>
                        <a14:backgroundMark x1="25734" y1="15194" x2="24336" y2="11622"/>
                        <a14:backgroundMark x1="55105" y1="30266" x2="18881" y2="121"/>
                        <a14:backgroundMark x1="23217" y1="11138" x2="23217" y2="115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0000" y="3780000"/>
            <a:ext cx="935327" cy="2160000"/>
          </a:xfrm>
          <a:prstGeom prst="rect">
            <a:avLst/>
          </a:prstGeom>
        </p:spPr>
      </p:pic>
      <p:sp>
        <p:nvSpPr>
          <p:cNvPr id="11" name="文字方塊 10"/>
          <p:cNvSpPr txBox="1"/>
          <p:nvPr userDrawn="1"/>
        </p:nvSpPr>
        <p:spPr>
          <a:xfrm>
            <a:off x="9900000" y="6048000"/>
            <a:ext cx="2088000" cy="720000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Autofit/>
          </a:bodyPr>
          <a:lstStyle/>
          <a:p>
            <a:pPr algn="ctr">
              <a:spcBef>
                <a:spcPts val="300"/>
              </a:spcBef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25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屆國家品質獎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ts val="300"/>
              </a:spcBef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績優經營獎</a:t>
            </a:r>
          </a:p>
        </p:txBody>
      </p:sp>
      <p:sp>
        <p:nvSpPr>
          <p:cNvPr id="12" name="標題 3"/>
          <p:cNvSpPr>
            <a:spLocks noGrp="1"/>
          </p:cNvSpPr>
          <p:nvPr>
            <p:ph type="title"/>
          </p:nvPr>
        </p:nvSpPr>
        <p:spPr>
          <a:xfrm>
            <a:off x="360000" y="1980000"/>
            <a:ext cx="8640000" cy="2160000"/>
          </a:xfrm>
        </p:spPr>
        <p:txBody>
          <a:bodyPr/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57707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340000" y="6552000"/>
            <a:ext cx="720000" cy="288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 smtClean="0">
                <a:solidFill>
                  <a:prstClr val="black">
                    <a:lumMod val="50000"/>
                    <a:lumOff val="50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2000" y="144000"/>
            <a:ext cx="8468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標題 1"/>
          <p:cNvSpPr txBox="1">
            <a:spLocks/>
          </p:cNvSpPr>
          <p:nvPr/>
        </p:nvSpPr>
        <p:spPr>
          <a:xfrm>
            <a:off x="3168000" y="2160000"/>
            <a:ext cx="6768000" cy="1620000"/>
          </a:xfrm>
          <a:prstGeom prst="rect">
            <a:avLst/>
          </a:prstGeom>
        </p:spPr>
        <p:txBody>
          <a:bodyPr vert="horz" lIns="72000" tIns="36000" rIns="72000" bIns="36000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0" lang="zh-TW" altLang="en-US" sz="8000" u="sng" dirty="0" smtClean="0">
                <a:solidFill>
                  <a:schemeClr val="tx2"/>
                </a:solidFill>
              </a:rPr>
              <a:t>謝謝觀看</a:t>
            </a:r>
            <a:endParaRPr kumimoji="0" lang="zh-TW" altLang="en-US" sz="8000" u="sng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7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359999" y="72000"/>
            <a:ext cx="10080000" cy="648000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chemeClr val="accent6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9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360000" y="6552000"/>
            <a:ext cx="1296000" cy="288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2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340000" y="6552000"/>
            <a:ext cx="720000" cy="288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 smtClean="0">
                <a:solidFill>
                  <a:prstClr val="black">
                    <a:lumMod val="50000"/>
                    <a:lumOff val="50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792000"/>
            <a:ext cx="10440000" cy="72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>
          <a:xfrm>
            <a:off x="359999" y="1129375"/>
            <a:ext cx="10731500" cy="5175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461464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6">
            <a:extLst>
              <a:ext uri="{FF2B5EF4-FFF2-40B4-BE49-F238E27FC236}">
                <a16:creationId xmlns:a16="http://schemas.microsoft.com/office/drawing/2014/main" id="{BA273898-EB97-2D4F-8533-DD07B7B814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71531" y="2708920"/>
            <a:ext cx="10012693" cy="1143000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2">
            <a:extLst>
              <a:ext uri="{FF2B5EF4-FFF2-40B4-BE49-F238E27FC236}">
                <a16:creationId xmlns:a16="http://schemas.microsoft.com/office/drawing/2014/main" id="{0986A256-7888-0F4E-A34D-DD354D250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頁尾版面配置區 3">
            <a:extLst>
              <a:ext uri="{FF2B5EF4-FFF2-40B4-BE49-F238E27FC236}">
                <a16:creationId xmlns:a16="http://schemas.microsoft.com/office/drawing/2014/main" id="{AA3DF32A-A1B7-C943-BF2A-04558EF35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4">
            <a:extLst>
              <a:ext uri="{FF2B5EF4-FFF2-40B4-BE49-F238E27FC236}">
                <a16:creationId xmlns:a16="http://schemas.microsoft.com/office/drawing/2014/main" id="{6A0D5650-8133-DD49-98AC-D9EDEE03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4952" y="6519864"/>
            <a:ext cx="52704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微軟正黑體" panose="020B0604030504040204" pitchFamily="34" charset="-120"/>
              </a:defRPr>
            </a:lvl1pPr>
          </a:lstStyle>
          <a:p>
            <a:fld id="{972E82EF-65DD-2D4F-8528-85985C0C135F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196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60000" y="72000"/>
            <a:ext cx="115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72000" bIns="36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360000" y="6552000"/>
            <a:ext cx="1296000" cy="288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888000" y="6552000"/>
            <a:ext cx="4320000" cy="288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340000" y="6552000"/>
            <a:ext cx="720000" cy="288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 smtClean="0">
                <a:solidFill>
                  <a:prstClr val="black">
                    <a:lumMod val="50000"/>
                    <a:lumOff val="50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42" r:id="rId2"/>
    <p:sldLayoutId id="2147483843" r:id="rId3"/>
    <p:sldLayoutId id="2147483844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>
          <a:solidFill>
            <a:schemeClr val="accent6">
              <a:lumMod val="50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zh-TW" sz="2800" dirty="0" smtClean="0">
                <a:solidFill>
                  <a:schemeClr val="bg1">
                    <a:lumMod val="50000"/>
                  </a:schemeClr>
                </a:solidFill>
              </a:rPr>
              <a:t>REACT </a:t>
            </a:r>
            <a:r>
              <a:rPr lang="zh-TW" altLang="en-US" sz="2800" dirty="0" smtClean="0">
                <a:solidFill>
                  <a:schemeClr val="bg1">
                    <a:lumMod val="50000"/>
                  </a:schemeClr>
                </a:solidFill>
              </a:rPr>
              <a:t>第六堂</a:t>
            </a: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zh-TW" sz="2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TW" altLang="en-US" dirty="0">
                <a:solidFill>
                  <a:schemeClr val="accent6">
                    <a:lumMod val="50000"/>
                  </a:schemeClr>
                </a:solidFill>
              </a:rPr>
              <a:t>建立</a:t>
            </a:r>
            <a:r>
              <a:rPr lang="zh-TW" altLang="en-US" sz="2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Table</a:t>
            </a:r>
            <a:r>
              <a:rPr lang="zh-TW" altLang="en-US" dirty="0" smtClean="0">
                <a:solidFill>
                  <a:schemeClr val="accent6">
                    <a:lumMod val="50000"/>
                  </a:schemeClr>
                </a:solidFill>
              </a:rPr>
              <a:t>元件</a:t>
            </a:r>
            <a:endParaRPr lang="zh-TW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文字版面配置區 9"/>
          <p:cNvSpPr txBox="1">
            <a:spLocks/>
          </p:cNvSpPr>
          <p:nvPr/>
        </p:nvSpPr>
        <p:spPr>
          <a:xfrm>
            <a:off x="360000" y="4727276"/>
            <a:ext cx="7828960" cy="1112807"/>
          </a:xfrm>
          <a:prstGeom prst="rect">
            <a:avLst/>
          </a:prstGeom>
        </p:spPr>
        <p:txBody>
          <a:bodyPr lIns="72000" tIns="72000" rIns="72000" bIns="7200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400" b="1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簡報者：</a:t>
            </a:r>
            <a:r>
              <a:rPr lang="zh-TW" altLang="en-US" sz="2000" b="1" dirty="0" smtClean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連信豪、汪澤政、</a:t>
            </a:r>
            <a:r>
              <a:rPr lang="zh-TW" altLang="en-US" sz="24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李友逸</a:t>
            </a:r>
            <a:r>
              <a:rPr lang="zh-TW" altLang="en-US" sz="2000" b="1" dirty="0" smtClean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、黃靖容</a:t>
            </a:r>
            <a:endParaRPr lang="en-US" altLang="zh-TW" sz="2400" b="1" dirty="0" smtClean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    位：軟體工程部研發課</a:t>
            </a:r>
            <a:endParaRPr lang="en-US" altLang="zh-TW" sz="2400" b="1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723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3887194" y="1939541"/>
            <a:ext cx="5631656" cy="857250"/>
          </a:xfrm>
        </p:spPr>
        <p:txBody>
          <a:bodyPr/>
          <a:lstStyle/>
          <a:p>
            <a:r>
              <a:rPr lang="zh-TW" altLang="en-US" dirty="0"/>
              <a:t>課程</a:t>
            </a:r>
            <a:r>
              <a:rPr lang="zh-TW" altLang="en-US" b="1" dirty="0" smtClean="0">
                <a:solidFill>
                  <a:schemeClr val="accent6">
                    <a:lumMod val="50000"/>
                  </a:schemeClr>
                </a:solidFill>
              </a:rPr>
              <a:t>大綱</a:t>
            </a:r>
          </a:p>
        </p:txBody>
      </p:sp>
      <p:sp>
        <p:nvSpPr>
          <p:cNvPr id="12291" name="投影片編號版面配置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557213" indent="-214313" algn="l" eaLnBrk="0" hangingPunct="0">
              <a:spcBef>
                <a:spcPct val="20000"/>
              </a:spcBef>
              <a:buFont typeface="Arial" charset="0"/>
              <a:buChar char="–"/>
              <a:defRPr sz="21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857250" indent="-171450" algn="l" eaLnBrk="0" hangingPunct="0">
              <a:spcBef>
                <a:spcPct val="20000"/>
              </a:spcBef>
              <a:buFont typeface="Arial" charset="0"/>
              <a:buChar char="•"/>
              <a:defRPr sz="1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200150" indent="-171450" algn="l" eaLnBrk="0" hangingPunct="0">
              <a:spcBef>
                <a:spcPct val="20000"/>
              </a:spcBef>
              <a:buFont typeface="Arial" charset="0"/>
              <a:buChar char="–"/>
              <a:defRPr sz="15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1543050" indent="-171450" algn="l" eaLnBrk="0" hangingPunct="0">
              <a:spcBef>
                <a:spcPct val="20000"/>
              </a:spcBef>
              <a:buFont typeface="Arial" charset="0"/>
              <a:buChar char="»"/>
              <a:defRPr sz="15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900" dirty="0">
                <a:solidFill>
                  <a:schemeClr val="bg1"/>
                </a:solidFill>
                <a:latin typeface="微軟正黑體" pitchFamily="34" charset="-120"/>
              </a:rPr>
              <a:t>1</a:t>
            </a:r>
            <a:endParaRPr lang="zh-TW" altLang="en-US" sz="900" dirty="0">
              <a:solidFill>
                <a:schemeClr val="bg1"/>
              </a:solidFill>
              <a:latin typeface="微軟正黑體" pitchFamily="34" charset="-120"/>
            </a:endParaRPr>
          </a:p>
        </p:txBody>
      </p:sp>
      <p:sp>
        <p:nvSpPr>
          <p:cNvPr id="4" name="文字方塊 4"/>
          <p:cNvSpPr txBox="1">
            <a:spLocks noChangeArrowheads="1"/>
          </p:cNvSpPr>
          <p:nvPr/>
        </p:nvSpPr>
        <p:spPr bwMode="auto">
          <a:xfrm>
            <a:off x="3728572" y="2897000"/>
            <a:ext cx="7139911" cy="252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477838" indent="-45720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資料渲染</a:t>
            </a:r>
            <a:endParaRPr lang="en-US" altLang="zh-TW" sz="2400" dirty="0" smtClean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元件化</a:t>
            </a:r>
            <a:endParaRPr lang="en-US" altLang="zh-TW" sz="2400" dirty="0" smtClean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自訂資料欄位</a:t>
            </a:r>
            <a:endParaRPr lang="en-US" altLang="zh-TW" sz="2400" dirty="0" smtClean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樣式</a:t>
            </a:r>
            <a:r>
              <a:rPr lang="zh-TW" altLang="en-US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更改</a:t>
            </a:r>
            <a:endParaRPr lang="en-US" altLang="zh-TW" sz="240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82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359997" y="6610"/>
            <a:ext cx="10080000" cy="648000"/>
          </a:xfrm>
        </p:spPr>
        <p:txBody>
          <a:bodyPr/>
          <a:lstStyle/>
          <a:p>
            <a:r>
              <a:rPr lang="zh-TW" altLang="en-US" dirty="0"/>
              <a:t>資料</a:t>
            </a:r>
            <a:r>
              <a:rPr lang="zh-TW" altLang="en-US" dirty="0" smtClean="0"/>
              <a:t>渲染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  <p:sp>
        <p:nvSpPr>
          <p:cNvPr id="4" name="圓角矩形 3"/>
          <p:cNvSpPr/>
          <p:nvPr/>
        </p:nvSpPr>
        <p:spPr>
          <a:xfrm>
            <a:off x="1382082" y="1817313"/>
            <a:ext cx="1766171" cy="71398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table</a:t>
            </a:r>
            <a:endParaRPr lang="zh-TW" altLang="en-US" dirty="0"/>
          </a:p>
        </p:txBody>
      </p:sp>
      <p:sp>
        <p:nvSpPr>
          <p:cNvPr id="20" name="圓角矩形 19"/>
          <p:cNvSpPr/>
          <p:nvPr/>
        </p:nvSpPr>
        <p:spPr>
          <a:xfrm>
            <a:off x="4696520" y="1264334"/>
            <a:ext cx="1766171" cy="71398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thead</a:t>
            </a:r>
            <a:endParaRPr lang="en-US" altLang="zh-TW" dirty="0"/>
          </a:p>
        </p:txBody>
      </p:sp>
      <p:sp>
        <p:nvSpPr>
          <p:cNvPr id="21" name="圓角矩形 20"/>
          <p:cNvSpPr/>
          <p:nvPr/>
        </p:nvSpPr>
        <p:spPr>
          <a:xfrm>
            <a:off x="1382082" y="5092138"/>
            <a:ext cx="1766171" cy="71398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建立資料</a:t>
            </a:r>
            <a:endParaRPr lang="en-US" altLang="zh-TW" dirty="0"/>
          </a:p>
        </p:txBody>
      </p:sp>
      <p:sp>
        <p:nvSpPr>
          <p:cNvPr id="22" name="圓角矩形 21"/>
          <p:cNvSpPr/>
          <p:nvPr/>
        </p:nvSpPr>
        <p:spPr>
          <a:xfrm>
            <a:off x="7829642" y="1264334"/>
            <a:ext cx="1766171" cy="71398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tr</a:t>
            </a:r>
            <a:endParaRPr lang="en-US" altLang="zh-TW" dirty="0"/>
          </a:p>
        </p:txBody>
      </p:sp>
      <p:sp>
        <p:nvSpPr>
          <p:cNvPr id="23" name="圓角矩形 22"/>
          <p:cNvSpPr/>
          <p:nvPr/>
        </p:nvSpPr>
        <p:spPr>
          <a:xfrm>
            <a:off x="4696521" y="4484100"/>
            <a:ext cx="1766171" cy="71398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thead</a:t>
            </a:r>
            <a:r>
              <a:rPr lang="en-US" altLang="zh-TW" dirty="0" smtClean="0"/>
              <a:t> &gt; </a:t>
            </a:r>
            <a:r>
              <a:rPr lang="en-US" altLang="zh-TW" dirty="0" err="1" smtClean="0"/>
              <a:t>tr</a:t>
            </a:r>
            <a:endParaRPr lang="en-US" altLang="zh-TW" dirty="0"/>
          </a:p>
        </p:txBody>
      </p:sp>
      <p:cxnSp>
        <p:nvCxnSpPr>
          <p:cNvPr id="8" name="直線單箭頭接點 7"/>
          <p:cNvCxnSpPr/>
          <p:nvPr/>
        </p:nvCxnSpPr>
        <p:spPr>
          <a:xfrm flipV="1">
            <a:off x="3506053" y="1868545"/>
            <a:ext cx="671594" cy="1097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6812136" y="1671215"/>
            <a:ext cx="6513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向下箭號 9"/>
          <p:cNvSpPr/>
          <p:nvPr/>
        </p:nvSpPr>
        <p:spPr>
          <a:xfrm>
            <a:off x="5332554" y="3424506"/>
            <a:ext cx="494106" cy="676406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圓角矩形 34"/>
          <p:cNvSpPr/>
          <p:nvPr/>
        </p:nvSpPr>
        <p:spPr>
          <a:xfrm>
            <a:off x="4696519" y="2292395"/>
            <a:ext cx="1766171" cy="71398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tbody</a:t>
            </a:r>
            <a:endParaRPr lang="en-US" altLang="zh-TW" dirty="0"/>
          </a:p>
        </p:txBody>
      </p:sp>
      <p:cxnSp>
        <p:nvCxnSpPr>
          <p:cNvPr id="36" name="直線單箭頭接點 35"/>
          <p:cNvCxnSpPr/>
          <p:nvPr/>
        </p:nvCxnSpPr>
        <p:spPr>
          <a:xfrm>
            <a:off x="6820491" y="2674439"/>
            <a:ext cx="6513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7" name="圓角矩形 36"/>
          <p:cNvSpPr/>
          <p:nvPr/>
        </p:nvSpPr>
        <p:spPr>
          <a:xfrm>
            <a:off x="7829642" y="2347545"/>
            <a:ext cx="1766171" cy="71398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tr</a:t>
            </a:r>
            <a:endParaRPr lang="en-US" altLang="zh-TW" dirty="0"/>
          </a:p>
        </p:txBody>
      </p:sp>
      <p:cxnSp>
        <p:nvCxnSpPr>
          <p:cNvPr id="38" name="直線單箭頭接點 37"/>
          <p:cNvCxnSpPr/>
          <p:nvPr/>
        </p:nvCxnSpPr>
        <p:spPr>
          <a:xfrm>
            <a:off x="3506052" y="2347545"/>
            <a:ext cx="675346" cy="1060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圓角矩形 44"/>
          <p:cNvSpPr/>
          <p:nvPr/>
        </p:nvSpPr>
        <p:spPr>
          <a:xfrm>
            <a:off x="4696520" y="5596500"/>
            <a:ext cx="1766171" cy="71398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t</a:t>
            </a:r>
            <a:r>
              <a:rPr lang="en-US" altLang="zh-TW" dirty="0" err="1" smtClean="0"/>
              <a:t>body</a:t>
            </a:r>
            <a:r>
              <a:rPr lang="en-US" altLang="zh-TW" dirty="0" smtClean="0"/>
              <a:t> &gt; td</a:t>
            </a:r>
            <a:endParaRPr lang="en-US" altLang="zh-TW" dirty="0"/>
          </a:p>
        </p:txBody>
      </p:sp>
      <p:cxnSp>
        <p:nvCxnSpPr>
          <p:cNvPr id="46" name="直線單箭頭接點 45"/>
          <p:cNvCxnSpPr/>
          <p:nvPr/>
        </p:nvCxnSpPr>
        <p:spPr>
          <a:xfrm>
            <a:off x="3506054" y="5596500"/>
            <a:ext cx="673470" cy="1203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V="1">
            <a:off x="3506054" y="5113586"/>
            <a:ext cx="671594" cy="1985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0" name="圓角矩形 49"/>
          <p:cNvSpPr/>
          <p:nvPr/>
        </p:nvSpPr>
        <p:spPr>
          <a:xfrm>
            <a:off x="7829642" y="4484100"/>
            <a:ext cx="1766171" cy="71398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渲染 </a:t>
            </a:r>
            <a:r>
              <a:rPr lang="en-US" altLang="zh-TW" dirty="0" err="1" smtClean="0"/>
              <a:t>th</a:t>
            </a:r>
            <a:endParaRPr lang="en-US" altLang="zh-TW" dirty="0"/>
          </a:p>
        </p:txBody>
      </p:sp>
      <p:cxnSp>
        <p:nvCxnSpPr>
          <p:cNvPr id="52" name="直線單箭頭接點 51"/>
          <p:cNvCxnSpPr/>
          <p:nvPr/>
        </p:nvCxnSpPr>
        <p:spPr>
          <a:xfrm>
            <a:off x="6812136" y="4840555"/>
            <a:ext cx="6513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4" name="圓角矩形 53"/>
          <p:cNvSpPr/>
          <p:nvPr/>
        </p:nvSpPr>
        <p:spPr>
          <a:xfrm>
            <a:off x="7829642" y="5596500"/>
            <a:ext cx="1766171" cy="71398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渲染 </a:t>
            </a:r>
            <a:r>
              <a:rPr lang="en-US" altLang="zh-TW" dirty="0" smtClean="0"/>
              <a:t>td</a:t>
            </a:r>
            <a:endParaRPr lang="en-US" altLang="zh-TW" dirty="0"/>
          </a:p>
        </p:txBody>
      </p:sp>
      <p:cxnSp>
        <p:nvCxnSpPr>
          <p:cNvPr id="55" name="直線單箭頭接點 54"/>
          <p:cNvCxnSpPr/>
          <p:nvPr/>
        </p:nvCxnSpPr>
        <p:spPr>
          <a:xfrm>
            <a:off x="6820491" y="5956466"/>
            <a:ext cx="6513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3722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animBg="1"/>
      <p:bldP spid="21" grpId="0" animBg="1"/>
      <p:bldP spid="22" grpId="0" animBg="1"/>
      <p:bldP spid="23" grpId="0" animBg="1"/>
      <p:bldP spid="10" grpId="0" animBg="1"/>
      <p:bldP spid="35" grpId="0" animBg="1"/>
      <p:bldP spid="37" grpId="0" animBg="1"/>
      <p:bldP spid="45" grpId="0" animBg="1"/>
      <p:bldP spid="50" grpId="0" animBg="1"/>
      <p:bldP spid="5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自訂</a:t>
            </a:r>
            <a:r>
              <a:rPr lang="zh-TW" altLang="en-US" dirty="0" smtClean="0"/>
              <a:t>資料欄位</a:t>
            </a:r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8FAB8B2-0FDE-463D-BCA7-467E727C80EC}" type="slidenum">
              <a:rPr lang="zh-TW" altLang="en-US" smtClean="0">
                <a:latin typeface="+mn-ea"/>
                <a:ea typeface="+mn-ea"/>
              </a:rPr>
              <a:pPr>
                <a:defRPr/>
              </a:pPr>
              <a:t>4</a:t>
            </a:fld>
            <a:endParaRPr lang="zh-TW" altLang="en-US" dirty="0">
              <a:latin typeface="+mn-ea"/>
              <a:ea typeface="+mn-ea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59999" y="1309345"/>
            <a:ext cx="51031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在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table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 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row 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打開超連結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?</a:t>
            </a:r>
            <a:endParaRPr lang="zh-TW" altLang="en-US" sz="3200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84626" y="2411045"/>
            <a:ext cx="6055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在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table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 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row 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打開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詳細資訊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?</a:t>
            </a:r>
            <a:endParaRPr lang="zh-TW" altLang="en-US" sz="3200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147879" y="3512745"/>
            <a:ext cx="5808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在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table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 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row 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放入</a:t>
            </a:r>
            <a:r>
              <a:rPr lang="zh-TW" altLang="en-US" sz="32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圖片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icon 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?</a:t>
            </a:r>
            <a:endParaRPr lang="zh-TW" altLang="en-US" sz="3200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620130" y="4825192"/>
            <a:ext cx="2342367" cy="11148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err="1" smtClean="0"/>
              <a:t>renderCell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17" name="向右箭號 16"/>
          <p:cNvSpPr/>
          <p:nvPr/>
        </p:nvSpPr>
        <p:spPr>
          <a:xfrm>
            <a:off x="3502367" y="5107028"/>
            <a:ext cx="809206" cy="55114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圓角矩形 33"/>
          <p:cNvSpPr/>
          <p:nvPr/>
        </p:nvSpPr>
        <p:spPr>
          <a:xfrm>
            <a:off x="4815202" y="4825192"/>
            <a:ext cx="2342367" cy="11148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渲染你想要的</a:t>
            </a:r>
            <a:r>
              <a:rPr lang="en-US" altLang="zh-TW" sz="2400" dirty="0" smtClean="0"/>
              <a:t> </a:t>
            </a:r>
            <a:endParaRPr lang="zh-TW" altLang="en-US" sz="2400" dirty="0"/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130" y="1309345"/>
            <a:ext cx="4399711" cy="48708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908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  <p:bldP spid="11" grpId="0" animBg="1"/>
      <p:bldP spid="17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元件化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5</a:t>
            </a:fld>
            <a:endParaRPr lang="zh-TW" altLang="en-US" dirty="0"/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81" y="1631517"/>
            <a:ext cx="5629714" cy="4656549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165" y="2799282"/>
            <a:ext cx="3761853" cy="1747137"/>
          </a:xfrm>
          <a:prstGeom prst="rect">
            <a:avLst/>
          </a:prstGeom>
        </p:spPr>
      </p:pic>
      <p:sp>
        <p:nvSpPr>
          <p:cNvPr id="24" name="向右箭號 23"/>
          <p:cNvSpPr/>
          <p:nvPr/>
        </p:nvSpPr>
        <p:spPr>
          <a:xfrm>
            <a:off x="6367200" y="3384286"/>
            <a:ext cx="833460" cy="57713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圖說文字 24"/>
          <p:cNvSpPr/>
          <p:nvPr/>
        </p:nvSpPr>
        <p:spPr>
          <a:xfrm>
            <a:off x="9378091" y="1631517"/>
            <a:ext cx="1835701" cy="764975"/>
          </a:xfrm>
          <a:prstGeom prst="wedgeRectCallo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程式碼大量減少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7200660" y="4949209"/>
            <a:ext cx="1809262" cy="150905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可複用</a:t>
            </a:r>
            <a:endParaRPr lang="zh-TW" altLang="en-US" sz="2400" dirty="0"/>
          </a:p>
        </p:txBody>
      </p:sp>
      <p:sp>
        <p:nvSpPr>
          <p:cNvPr id="36" name="橢圓 35"/>
          <p:cNvSpPr/>
          <p:nvPr/>
        </p:nvSpPr>
        <p:spPr>
          <a:xfrm>
            <a:off x="9652776" y="4949209"/>
            <a:ext cx="1809262" cy="150905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易維護</a:t>
            </a:r>
            <a:endParaRPr lang="zh-TW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561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樣式更改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936" y="2269671"/>
            <a:ext cx="5705064" cy="2828151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99" y="2589727"/>
            <a:ext cx="5149515" cy="222720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向右箭號 11"/>
          <p:cNvSpPr/>
          <p:nvPr/>
        </p:nvSpPr>
        <p:spPr>
          <a:xfrm>
            <a:off x="5747657" y="3429000"/>
            <a:ext cx="653143" cy="50618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圖說文字 12"/>
          <p:cNvSpPr/>
          <p:nvPr/>
        </p:nvSpPr>
        <p:spPr>
          <a:xfrm>
            <a:off x="3816012" y="1632857"/>
            <a:ext cx="1273744" cy="636814"/>
          </a:xfrm>
          <a:prstGeom prst="wedgeRectCallo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無樣式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圖說文字 13"/>
          <p:cNvSpPr/>
          <p:nvPr/>
        </p:nvSpPr>
        <p:spPr>
          <a:xfrm>
            <a:off x="9927001" y="1619007"/>
            <a:ext cx="1412999" cy="636814"/>
          </a:xfrm>
          <a:prstGeom prst="wedgeRectCallo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自訂樣式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656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473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0.3|0|0.2|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1|0.5|0.1|0.2|2.6|0.8|0.8|0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|0.2|0.3|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|1.6|0.2"/>
</p:tagLst>
</file>

<file path=ppt/theme/theme1.xml><?xml version="1.0" encoding="utf-8"?>
<a:theme xmlns:a="http://schemas.openxmlformats.org/drawingml/2006/main" name="Office 佈景主題">
  <a:themeElements>
    <a:clrScheme name="自訂 1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0070C0"/>
      </a:hlink>
      <a:folHlink>
        <a:srgbClr val="704404"/>
      </a:folHlink>
    </a:clrScheme>
    <a:fontScheme name="自訂 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EED51AAED68DEE4B8243AFD4C0334AD0" ma:contentTypeVersion="" ma:contentTypeDescription="建立新的文件。" ma:contentTypeScope="" ma:versionID="29127a4e73e9ea7595108fdca3500b3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8e594fd286184e1c63f15e1117b124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4AF2C0-87E7-41F8-8C87-C4B2683E8C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10A4E22-5344-47AD-8D52-4647883CD9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A8FBE6-1AAC-4DF5-96C2-49F6D97406B7}">
  <ds:schemaRefs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33549</TotalTime>
  <Words>114</Words>
  <Application>Microsoft Office PowerPoint</Application>
  <PresentationFormat>寬螢幕</PresentationFormat>
  <Paragraphs>42</Paragraphs>
  <Slides>7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新細明體</vt:lpstr>
      <vt:lpstr>Arial</vt:lpstr>
      <vt:lpstr>Calibri</vt:lpstr>
      <vt:lpstr>Wingdings</vt:lpstr>
      <vt:lpstr>Office 佈景主題</vt:lpstr>
      <vt:lpstr> REACT 第六堂 建立 Table元件</vt:lpstr>
      <vt:lpstr>課程大綱</vt:lpstr>
      <vt:lpstr>資料渲染</vt:lpstr>
      <vt:lpstr>自訂資料欄位</vt:lpstr>
      <vt:lpstr>元件化</vt:lpstr>
      <vt:lpstr>樣式更改</vt:lpstr>
      <vt:lpstr>PowerPoint 簡報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TonyLiu</dc:creator>
  <cp:lastModifiedBy>李友逸</cp:lastModifiedBy>
  <cp:revision>1757</cp:revision>
  <cp:lastPrinted>2022-07-29T06:02:51Z</cp:lastPrinted>
  <dcterms:created xsi:type="dcterms:W3CDTF">2017-11-14T08:48:39Z</dcterms:created>
  <dcterms:modified xsi:type="dcterms:W3CDTF">2024-08-12T08:28:26Z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0x010100EED51AAED68DEE4B8243AFD4C0334AD0</vt:lpwstr>
  </property>
</Properties>
</file>
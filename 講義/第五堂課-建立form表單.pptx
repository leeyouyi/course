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3"/>
  </p:notesMasterIdLst>
  <p:handoutMasterIdLst>
    <p:handoutMasterId r:id="rId14"/>
  </p:handoutMasterIdLst>
  <p:sldIdLst>
    <p:sldId id="523" r:id="rId5"/>
    <p:sldId id="600" r:id="rId6"/>
    <p:sldId id="579" r:id="rId7"/>
    <p:sldId id="603" r:id="rId8"/>
    <p:sldId id="601" r:id="rId9"/>
    <p:sldId id="602" r:id="rId10"/>
    <p:sldId id="609" r:id="rId11"/>
    <p:sldId id="526" r:id="rId12"/>
  </p:sldIdLst>
  <p:sldSz cx="12192000" cy="6858000"/>
  <p:notesSz cx="6797675" cy="99266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790" userDrawn="1">
          <p15:clr>
            <a:srgbClr val="A4A3A4"/>
          </p15:clr>
        </p15:guide>
        <p15:guide id="3" orient="horz" pos="663" userDrawn="1">
          <p15:clr>
            <a:srgbClr val="A4A3A4"/>
          </p15:clr>
        </p15:guide>
        <p15:guide id="4" orient="horz" pos="2137" userDrawn="1">
          <p15:clr>
            <a:srgbClr val="A4A3A4"/>
          </p15:clr>
        </p15:guide>
        <p15:guide id="5" pos="384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047"/>
    <a:srgbClr val="5E7F9A"/>
    <a:srgbClr val="404756"/>
    <a:srgbClr val="F2F2F2"/>
    <a:srgbClr val="1F77B4"/>
    <a:srgbClr val="6A6A6A"/>
    <a:srgbClr val="2183A5"/>
    <a:srgbClr val="31BBD5"/>
    <a:srgbClr val="F0B216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79" autoAdjust="0"/>
    <p:restoredTop sz="91853" autoAdjust="0"/>
  </p:normalViewPr>
  <p:slideViewPr>
    <p:cSldViewPr snapToGrid="0">
      <p:cViewPr varScale="1">
        <p:scale>
          <a:sx n="70" d="100"/>
          <a:sy n="70" d="100"/>
        </p:scale>
        <p:origin x="342" y="60"/>
      </p:cViewPr>
      <p:guideLst>
        <p:guide pos="5790"/>
        <p:guide orient="horz" pos="663"/>
        <p:guide orient="horz" pos="2137"/>
        <p:guide pos="3845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3978" y="108"/>
      </p:cViewPr>
      <p:guideLst>
        <p:guide orient="horz" pos="2880"/>
        <p:guide pos="2160"/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6FD09B-FFE9-4BAC-AACE-1331FB8C37FE}" type="datetimeFigureOut">
              <a:rPr lang="zh-TW" altLang="en-US" smtClean="0"/>
              <a:t>2024/8/12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B39BF-ABA5-4686-A5C2-91F89789E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006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F907CDE-9D10-4432-877C-82E2D273EBB9}" type="datetimeFigureOut">
              <a:rPr lang="zh-TW" altLang="en-US"/>
              <a:pPr>
                <a:defRPr/>
              </a:pPr>
              <a:t>2024/8/12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9694207F-D22D-46B9-826F-96C96AECF43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34645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4207F-D22D-46B9-826F-96C96AECF432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204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4207F-D22D-46B9-826F-96C96AECF432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7737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4207F-D22D-46B9-826F-96C96AECF432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250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4207F-D22D-46B9-826F-96C96AECF432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3425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052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000" y="0"/>
            <a:ext cx="44767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 userDrawn="1"/>
        </p:nvSpPr>
        <p:spPr>
          <a:xfrm>
            <a:off x="360000" y="6516000"/>
            <a:ext cx="4320000" cy="252000"/>
          </a:xfrm>
          <a:prstGeom prst="rect">
            <a:avLst/>
          </a:prstGeom>
          <a:noFill/>
        </p:spPr>
        <p:txBody>
          <a:bodyPr wrap="square" lIns="72000" tIns="36000" rIns="72000" bIns="36000" rtlCol="0">
            <a:noAutofit/>
          </a:bodyPr>
          <a:lstStyle/>
          <a:p>
            <a:r>
              <a:rPr lang="en-US" altLang="zh-TW" sz="1400" dirty="0"/>
              <a:t>©</a:t>
            </a:r>
            <a:r>
              <a:rPr lang="en-US" altLang="zh-TW" sz="1050" dirty="0"/>
              <a:t> </a:t>
            </a:r>
            <a:r>
              <a:rPr lang="en-US" altLang="zh-TW" sz="1100" dirty="0"/>
              <a:t>2022 TRADE-VAN</a:t>
            </a:r>
            <a:r>
              <a:rPr lang="en-US" altLang="zh-TW" sz="1100" baseline="0" dirty="0"/>
              <a:t> Information Service Co. All rights reserved.</a:t>
            </a:r>
            <a:endParaRPr lang="zh-TW" altLang="en-US" sz="1100" dirty="0"/>
          </a:p>
        </p:txBody>
      </p:sp>
      <p:pic>
        <p:nvPicPr>
          <p:cNvPr id="10" name="圖片 9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7700" l="0" r="98182">
                        <a14:foregroundMark x1="25175" y1="58898" x2="18881" y2="0"/>
                        <a14:foregroundMark x1="54266" y1="30145" x2="18881" y2="0"/>
                        <a14:foregroundMark x1="33706" y1="16404" x2="19161" y2="3814"/>
                        <a14:foregroundMark x1="28811" y1="60835" x2="22797" y2="9625"/>
                        <a14:foregroundMark x1="52308" y1="28450" x2="96224" y2="65860"/>
                        <a14:backgroundMark x1="25734" y1="15194" x2="24336" y2="11622"/>
                        <a14:backgroundMark x1="55105" y1="30266" x2="18881" y2="121"/>
                        <a14:backgroundMark x1="23217" y1="11138" x2="23217" y2="115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0000" y="3780000"/>
            <a:ext cx="935327" cy="2160000"/>
          </a:xfrm>
          <a:prstGeom prst="rect">
            <a:avLst/>
          </a:prstGeom>
        </p:spPr>
      </p:pic>
      <p:sp>
        <p:nvSpPr>
          <p:cNvPr id="11" name="文字方塊 10"/>
          <p:cNvSpPr txBox="1"/>
          <p:nvPr userDrawn="1"/>
        </p:nvSpPr>
        <p:spPr>
          <a:xfrm>
            <a:off x="9900000" y="6048000"/>
            <a:ext cx="2088000" cy="720000"/>
          </a:xfrm>
          <a:prstGeom prst="rect">
            <a:avLst/>
          </a:prstGeom>
          <a:noFill/>
        </p:spPr>
        <p:txBody>
          <a:bodyPr wrap="square" lIns="72000" tIns="36000" rIns="72000" bIns="36000" rtlCol="0">
            <a:noAutofit/>
          </a:bodyPr>
          <a:lstStyle/>
          <a:p>
            <a:pPr algn="ctr">
              <a:spcBef>
                <a:spcPts val="300"/>
              </a:spcBef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25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屆國家品質獎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ts val="300"/>
              </a:spcBef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績優經營獎</a:t>
            </a:r>
          </a:p>
        </p:txBody>
      </p:sp>
      <p:sp>
        <p:nvSpPr>
          <p:cNvPr id="12" name="標題 3"/>
          <p:cNvSpPr>
            <a:spLocks noGrp="1"/>
          </p:cNvSpPr>
          <p:nvPr>
            <p:ph type="title"/>
          </p:nvPr>
        </p:nvSpPr>
        <p:spPr>
          <a:xfrm>
            <a:off x="360000" y="1980000"/>
            <a:ext cx="8640000" cy="2160000"/>
          </a:xfrm>
        </p:spPr>
        <p:txBody>
          <a:bodyPr/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577074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337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340000" y="6552000"/>
            <a:ext cx="720000" cy="288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 smtClean="0">
                <a:solidFill>
                  <a:prstClr val="black">
                    <a:lumMod val="50000"/>
                    <a:lumOff val="50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D8FAB8B2-0FDE-463D-BCA7-467E727C80EC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2000" y="144000"/>
            <a:ext cx="8468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標題 1"/>
          <p:cNvSpPr txBox="1">
            <a:spLocks/>
          </p:cNvSpPr>
          <p:nvPr/>
        </p:nvSpPr>
        <p:spPr>
          <a:xfrm>
            <a:off x="3168000" y="2160000"/>
            <a:ext cx="6768000" cy="1620000"/>
          </a:xfrm>
          <a:prstGeom prst="rect">
            <a:avLst/>
          </a:prstGeom>
        </p:spPr>
        <p:txBody>
          <a:bodyPr vert="horz" lIns="72000" tIns="36000" rIns="72000" bIns="36000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0" lang="zh-TW" altLang="en-US" sz="8000" u="sng" dirty="0" smtClean="0">
                <a:solidFill>
                  <a:schemeClr val="tx2"/>
                </a:solidFill>
              </a:rPr>
              <a:t>謝謝觀看</a:t>
            </a:r>
            <a:endParaRPr kumimoji="0" lang="zh-TW" altLang="en-US" sz="8000" u="sng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7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359999" y="72000"/>
            <a:ext cx="10080000" cy="648000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chemeClr val="accent6">
                    <a:lumMod val="50000"/>
                  </a:schemeClr>
                </a:solidFill>
                <a:effectLst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9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360000" y="6552000"/>
            <a:ext cx="1296000" cy="288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2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340000" y="6552000"/>
            <a:ext cx="720000" cy="288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 smtClean="0">
                <a:solidFill>
                  <a:prstClr val="black">
                    <a:lumMod val="50000"/>
                    <a:lumOff val="50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D8FAB8B2-0FDE-463D-BCA7-467E727C80EC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792000"/>
            <a:ext cx="10440000" cy="72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0"/>
          </p:nvPr>
        </p:nvSpPr>
        <p:spPr>
          <a:xfrm>
            <a:off x="359999" y="1129375"/>
            <a:ext cx="10731500" cy="5175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461464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6">
            <a:extLst>
              <a:ext uri="{FF2B5EF4-FFF2-40B4-BE49-F238E27FC236}">
                <a16:creationId xmlns:a16="http://schemas.microsoft.com/office/drawing/2014/main" id="{BA273898-EB97-2D4F-8533-DD07B7B814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71531" y="2708920"/>
            <a:ext cx="10012693" cy="1143000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2">
            <a:extLst>
              <a:ext uri="{FF2B5EF4-FFF2-40B4-BE49-F238E27FC236}">
                <a16:creationId xmlns:a16="http://schemas.microsoft.com/office/drawing/2014/main" id="{0986A256-7888-0F4E-A34D-DD354D250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頁尾版面配置區 3">
            <a:extLst>
              <a:ext uri="{FF2B5EF4-FFF2-40B4-BE49-F238E27FC236}">
                <a16:creationId xmlns:a16="http://schemas.microsoft.com/office/drawing/2014/main" id="{AA3DF32A-A1B7-C943-BF2A-04558EF35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4">
            <a:extLst>
              <a:ext uri="{FF2B5EF4-FFF2-40B4-BE49-F238E27FC236}">
                <a16:creationId xmlns:a16="http://schemas.microsoft.com/office/drawing/2014/main" id="{6A0D5650-8133-DD49-98AC-D9EDEE03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4952" y="6519864"/>
            <a:ext cx="527049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微軟正黑體" panose="020B0604030504040204" pitchFamily="34" charset="-120"/>
              </a:defRPr>
            </a:lvl1pPr>
          </a:lstStyle>
          <a:p>
            <a:fld id="{972E82EF-65DD-2D4F-8528-85985C0C135F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2196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60000" y="72000"/>
            <a:ext cx="115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36000" rIns="72000" bIns="360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360000" y="6552000"/>
            <a:ext cx="1296000" cy="288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888000" y="6552000"/>
            <a:ext cx="4320000" cy="288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340000" y="6552000"/>
            <a:ext cx="720000" cy="288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 smtClean="0">
                <a:solidFill>
                  <a:prstClr val="black">
                    <a:lumMod val="50000"/>
                    <a:lumOff val="50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D8FAB8B2-0FDE-463D-BCA7-467E727C80EC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42" r:id="rId2"/>
    <p:sldLayoutId id="2147483843" r:id="rId3"/>
    <p:sldLayoutId id="2147483844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>
          <a:solidFill>
            <a:schemeClr val="accent6">
              <a:lumMod val="50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000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zh-TW" sz="2800" dirty="0" smtClean="0">
                <a:solidFill>
                  <a:schemeClr val="bg1">
                    <a:lumMod val="50000"/>
                  </a:schemeClr>
                </a:solidFill>
              </a:rPr>
              <a:t>REACT </a:t>
            </a:r>
            <a:r>
              <a:rPr lang="zh-TW" altLang="en-US" sz="2800" dirty="0" smtClean="0">
                <a:solidFill>
                  <a:schemeClr val="bg1">
                    <a:lumMod val="50000"/>
                  </a:schemeClr>
                </a:solidFill>
              </a:rPr>
              <a:t>第五堂</a:t>
            </a:r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en-US" altLang="zh-TW" sz="28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TW" altLang="en-US" dirty="0">
                <a:solidFill>
                  <a:schemeClr val="accent6">
                    <a:lumMod val="50000"/>
                  </a:schemeClr>
                </a:solidFill>
              </a:rPr>
              <a:t>建立</a:t>
            </a:r>
            <a:r>
              <a:rPr lang="zh-TW" altLang="en-US" sz="2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accent6">
                    <a:lumMod val="50000"/>
                  </a:schemeClr>
                </a:solidFill>
              </a:rPr>
              <a:t>form</a:t>
            </a:r>
            <a:r>
              <a:rPr lang="zh-TW" altLang="en-US" dirty="0">
                <a:solidFill>
                  <a:schemeClr val="accent6">
                    <a:lumMod val="50000"/>
                  </a:schemeClr>
                </a:solidFill>
              </a:rPr>
              <a:t>表單</a:t>
            </a:r>
          </a:p>
        </p:txBody>
      </p:sp>
      <p:sp>
        <p:nvSpPr>
          <p:cNvPr id="5" name="文字版面配置區 9"/>
          <p:cNvSpPr txBox="1">
            <a:spLocks/>
          </p:cNvSpPr>
          <p:nvPr/>
        </p:nvSpPr>
        <p:spPr>
          <a:xfrm>
            <a:off x="360000" y="4727276"/>
            <a:ext cx="7828960" cy="1112807"/>
          </a:xfrm>
          <a:prstGeom prst="rect">
            <a:avLst/>
          </a:prstGeom>
        </p:spPr>
        <p:txBody>
          <a:bodyPr lIns="72000" tIns="72000" rIns="72000" bIns="7200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2400" b="1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簡報者：</a:t>
            </a:r>
            <a:r>
              <a:rPr lang="zh-TW" altLang="en-US" sz="2000" b="1" dirty="0" smtClean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連信豪、汪澤政、</a:t>
            </a:r>
            <a:r>
              <a:rPr lang="zh-TW" altLang="en-US" sz="24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李友逸</a:t>
            </a:r>
            <a:r>
              <a:rPr lang="zh-TW" altLang="en-US" sz="2000" b="1" dirty="0" smtClean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、黃靖容</a:t>
            </a:r>
            <a:endParaRPr lang="en-US" altLang="zh-TW" sz="2400" b="1" dirty="0" smtClean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    位：軟體工程部研發課</a:t>
            </a:r>
            <a:endParaRPr lang="en-US" altLang="zh-TW" sz="2400" b="1" dirty="0">
              <a:solidFill>
                <a:schemeClr val="accent6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723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>
          <a:xfrm>
            <a:off x="3887193" y="1638917"/>
            <a:ext cx="5631656" cy="857250"/>
          </a:xfrm>
        </p:spPr>
        <p:txBody>
          <a:bodyPr/>
          <a:lstStyle/>
          <a:p>
            <a:r>
              <a:rPr lang="zh-TW" altLang="en-US" dirty="0"/>
              <a:t>課程</a:t>
            </a:r>
            <a:r>
              <a:rPr lang="zh-TW" altLang="en-US" b="1" dirty="0" smtClean="0">
                <a:solidFill>
                  <a:schemeClr val="accent6">
                    <a:lumMod val="50000"/>
                  </a:schemeClr>
                </a:solidFill>
              </a:rPr>
              <a:t>大綱</a:t>
            </a:r>
          </a:p>
        </p:txBody>
      </p:sp>
      <p:sp>
        <p:nvSpPr>
          <p:cNvPr id="12291" name="投影片編號版面配置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557213" indent="-214313" algn="l" eaLnBrk="0" hangingPunct="0">
              <a:spcBef>
                <a:spcPct val="20000"/>
              </a:spcBef>
              <a:buFont typeface="Arial" charset="0"/>
              <a:buChar char="–"/>
              <a:defRPr sz="21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857250" indent="-171450" algn="l" eaLnBrk="0" hangingPunct="0">
              <a:spcBef>
                <a:spcPct val="20000"/>
              </a:spcBef>
              <a:buFont typeface="Arial" charset="0"/>
              <a:buChar char="•"/>
              <a:defRPr sz="18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200150" indent="-171450" algn="l" eaLnBrk="0" hangingPunct="0">
              <a:spcBef>
                <a:spcPct val="20000"/>
              </a:spcBef>
              <a:buFont typeface="Arial" charset="0"/>
              <a:buChar char="–"/>
              <a:defRPr sz="15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4pPr>
            <a:lvl5pPr marL="1543050" indent="-171450" algn="l" eaLnBrk="0" hangingPunct="0">
              <a:spcBef>
                <a:spcPct val="20000"/>
              </a:spcBef>
              <a:buFont typeface="Arial" charset="0"/>
              <a:buChar char="»"/>
              <a:defRPr sz="15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5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5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5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500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900" dirty="0">
                <a:solidFill>
                  <a:schemeClr val="bg1"/>
                </a:solidFill>
                <a:latin typeface="微軟正黑體" pitchFamily="34" charset="-120"/>
              </a:rPr>
              <a:t>1</a:t>
            </a:r>
            <a:endParaRPr lang="en-US" altLang="zh-TW" sz="900" dirty="0" smtClean="0">
              <a:solidFill>
                <a:schemeClr val="bg1"/>
              </a:solidFill>
              <a:latin typeface="微軟正黑體" pitchFamily="34" charset="-120"/>
            </a:endParaRPr>
          </a:p>
        </p:txBody>
      </p:sp>
      <p:sp>
        <p:nvSpPr>
          <p:cNvPr id="4" name="文字方塊 4"/>
          <p:cNvSpPr txBox="1">
            <a:spLocks noChangeArrowheads="1"/>
          </p:cNvSpPr>
          <p:nvPr/>
        </p:nvSpPr>
        <p:spPr bwMode="auto">
          <a:xfrm>
            <a:off x="3803217" y="2496167"/>
            <a:ext cx="7139911" cy="315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477838" indent="-45720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input</a:t>
            </a:r>
            <a:r>
              <a:rPr lang="zh-TW" altLang="en-US" sz="2400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 資料綁定</a:t>
            </a:r>
            <a:endParaRPr lang="en-US" altLang="zh-TW" sz="2400" dirty="0" smtClean="0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渲染列表與 </a:t>
            </a:r>
            <a:r>
              <a:rPr lang="en-US" altLang="zh-TW" sz="2400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key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阻止表單預設</a:t>
            </a:r>
            <a:r>
              <a:rPr lang="zh-TW" altLang="en-US" sz="2400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行為</a:t>
            </a:r>
            <a:endParaRPr lang="en-US" altLang="zh-TW" sz="2400" dirty="0" smtClean="0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4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必填欄位</a:t>
            </a:r>
            <a:r>
              <a:rPr lang="zh-TW" altLang="en-US" sz="2400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檢核</a:t>
            </a:r>
            <a:endParaRPr lang="en-US" altLang="zh-TW" sz="240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Input</a:t>
            </a:r>
            <a:r>
              <a:rPr lang="zh-TW" altLang="en-US" sz="2400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 及 </a:t>
            </a:r>
            <a:r>
              <a:rPr lang="en-US" altLang="zh-TW" sz="2400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Select</a:t>
            </a:r>
            <a:r>
              <a:rPr lang="zh-TW" altLang="en-US" sz="2400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 元件化</a:t>
            </a:r>
            <a:endParaRPr lang="zh-TW" altLang="en-US" sz="240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0820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</a:t>
            </a:r>
            <a:r>
              <a:rPr lang="en-US" altLang="zh-TW" dirty="0" smtClean="0"/>
              <a:t>nput </a:t>
            </a:r>
            <a:r>
              <a:rPr lang="zh-TW" altLang="en-US" dirty="0" smtClean="0"/>
              <a:t>資料</a:t>
            </a:r>
            <a:r>
              <a:rPr lang="zh-TW" altLang="en-US" dirty="0"/>
              <a:t>綁</a:t>
            </a:r>
            <a:r>
              <a:rPr lang="zh-TW" altLang="en-US" dirty="0" smtClean="0"/>
              <a:t>定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8FAB8B2-0FDE-463D-BCA7-467E727C80EC}" type="slidenum">
              <a:rPr lang="zh-TW" altLang="en-US" smtClean="0"/>
              <a:pPr>
                <a:defRPr/>
              </a:pPr>
              <a:t>3</a:t>
            </a:fld>
            <a:endParaRPr lang="zh-TW" altLang="en-US" dirty="0"/>
          </a:p>
        </p:txBody>
      </p:sp>
      <p:sp>
        <p:nvSpPr>
          <p:cNvPr id="51" name="圓角矩形 50"/>
          <p:cNvSpPr/>
          <p:nvPr/>
        </p:nvSpPr>
        <p:spPr>
          <a:xfrm>
            <a:off x="4793111" y="3154563"/>
            <a:ext cx="2160000" cy="72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綁定 </a:t>
            </a:r>
            <a:r>
              <a:rPr lang="en-US" altLang="zh-TW" dirty="0" smtClean="0"/>
              <a:t>value</a:t>
            </a:r>
            <a:endParaRPr lang="zh-TW" altLang="en-US" dirty="0"/>
          </a:p>
        </p:txBody>
      </p:sp>
      <p:sp>
        <p:nvSpPr>
          <p:cNvPr id="7" name="圓角矩形 6"/>
          <p:cNvSpPr/>
          <p:nvPr/>
        </p:nvSpPr>
        <p:spPr>
          <a:xfrm>
            <a:off x="1026870" y="1164739"/>
            <a:ext cx="2160000" cy="7200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input</a:t>
            </a:r>
            <a:endParaRPr lang="zh-TW" altLang="en-US" dirty="0"/>
          </a:p>
        </p:txBody>
      </p:sp>
      <p:cxnSp>
        <p:nvCxnSpPr>
          <p:cNvPr id="9" name="直線單箭頭接點 8"/>
          <p:cNvCxnSpPr/>
          <p:nvPr/>
        </p:nvCxnSpPr>
        <p:spPr>
          <a:xfrm flipV="1">
            <a:off x="7105274" y="3520528"/>
            <a:ext cx="1383213" cy="56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5" name="流程圖: 資料 24"/>
          <p:cNvSpPr/>
          <p:nvPr/>
        </p:nvSpPr>
        <p:spPr>
          <a:xfrm>
            <a:off x="8559352" y="5053169"/>
            <a:ext cx="2160000" cy="646287"/>
          </a:xfrm>
          <a:prstGeom prst="flowChartInputOutp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input </a:t>
            </a:r>
            <a:r>
              <a:rPr lang="zh-TW" altLang="en-US" dirty="0" smtClean="0"/>
              <a:t>輸入</a:t>
            </a:r>
            <a:endParaRPr lang="zh-TW" altLang="en-US" dirty="0"/>
          </a:p>
        </p:txBody>
      </p:sp>
      <p:sp>
        <p:nvSpPr>
          <p:cNvPr id="32" name="圓角矩形 31"/>
          <p:cNvSpPr/>
          <p:nvPr/>
        </p:nvSpPr>
        <p:spPr>
          <a:xfrm>
            <a:off x="4793111" y="5007719"/>
            <a:ext cx="2160000" cy="72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setState</a:t>
            </a:r>
            <a:endParaRPr lang="zh-TW" altLang="en-US" dirty="0"/>
          </a:p>
        </p:txBody>
      </p:sp>
      <p:cxnSp>
        <p:nvCxnSpPr>
          <p:cNvPr id="33" name="直線單箭頭接點 32"/>
          <p:cNvCxnSpPr/>
          <p:nvPr/>
        </p:nvCxnSpPr>
        <p:spPr>
          <a:xfrm flipH="1">
            <a:off x="3321299" y="5367720"/>
            <a:ext cx="138321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9" name="圓角矩形 48"/>
          <p:cNvSpPr/>
          <p:nvPr/>
        </p:nvSpPr>
        <p:spPr>
          <a:xfrm>
            <a:off x="8717826" y="3154563"/>
            <a:ext cx="2059161" cy="74937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onChange</a:t>
            </a:r>
            <a:r>
              <a:rPr lang="en-US" altLang="zh-TW" dirty="0" smtClean="0"/>
              <a:t> </a:t>
            </a:r>
            <a:r>
              <a:rPr lang="zh-TW" altLang="en-US" dirty="0" smtClean="0"/>
              <a:t>事件</a:t>
            </a:r>
            <a:endParaRPr lang="zh-TW" altLang="en-US" dirty="0"/>
          </a:p>
        </p:txBody>
      </p:sp>
      <p:cxnSp>
        <p:nvCxnSpPr>
          <p:cNvPr id="53" name="直線單箭頭接點 52"/>
          <p:cNvCxnSpPr/>
          <p:nvPr/>
        </p:nvCxnSpPr>
        <p:spPr>
          <a:xfrm flipV="1">
            <a:off x="3337341" y="3514563"/>
            <a:ext cx="1335691" cy="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6" name="圓角矩形 55"/>
          <p:cNvSpPr/>
          <p:nvPr/>
        </p:nvSpPr>
        <p:spPr>
          <a:xfrm>
            <a:off x="1026870" y="5007720"/>
            <a:ext cx="2160000" cy="7200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取得 </a:t>
            </a:r>
            <a:r>
              <a:rPr lang="en-US" altLang="zh-TW" dirty="0" smtClean="0"/>
              <a:t>state</a:t>
            </a:r>
            <a:endParaRPr lang="zh-TW" altLang="en-US" dirty="0"/>
          </a:p>
        </p:txBody>
      </p:sp>
      <p:cxnSp>
        <p:nvCxnSpPr>
          <p:cNvPr id="66" name="直線單箭頭接點 65"/>
          <p:cNvCxnSpPr/>
          <p:nvPr/>
        </p:nvCxnSpPr>
        <p:spPr>
          <a:xfrm>
            <a:off x="9646568" y="4008285"/>
            <a:ext cx="12526" cy="9645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 flipH="1">
            <a:off x="7073190" y="5367719"/>
            <a:ext cx="139659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7" name="圓角矩形 16"/>
          <p:cNvSpPr/>
          <p:nvPr/>
        </p:nvSpPr>
        <p:spPr>
          <a:xfrm>
            <a:off x="1026870" y="3127843"/>
            <a:ext cx="2160000" cy="72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建立 </a:t>
            </a:r>
            <a:r>
              <a:rPr lang="en-US" altLang="zh-TW" dirty="0" smtClean="0"/>
              <a:t>state</a:t>
            </a:r>
            <a:endParaRPr lang="zh-TW" altLang="en-US" dirty="0"/>
          </a:p>
        </p:txBody>
      </p:sp>
      <p:cxnSp>
        <p:nvCxnSpPr>
          <p:cNvPr id="18" name="直線單箭頭接點 17"/>
          <p:cNvCxnSpPr/>
          <p:nvPr/>
        </p:nvCxnSpPr>
        <p:spPr>
          <a:xfrm flipH="1">
            <a:off x="2106870" y="1990740"/>
            <a:ext cx="2" cy="10217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3722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7" grpId="0" animBg="1"/>
      <p:bldP spid="25" grpId="0" animBg="1"/>
      <p:bldP spid="32" grpId="0" animBg="1"/>
      <p:bldP spid="49" grpId="0" animBg="1"/>
      <p:bldP spid="5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+mn-ea"/>
              </a:rPr>
              <a:t>渲染</a:t>
            </a:r>
            <a:r>
              <a:rPr lang="zh-TW" altLang="en-US" dirty="0">
                <a:latin typeface="+mn-ea"/>
              </a:rPr>
              <a:t>列表</a:t>
            </a:r>
            <a:r>
              <a:rPr lang="zh-TW" altLang="en-US" dirty="0" smtClean="0">
                <a:latin typeface="+mn-ea"/>
              </a:rPr>
              <a:t>與 </a:t>
            </a:r>
            <a:r>
              <a:rPr lang="en-US" altLang="zh-TW" dirty="0" smtClean="0">
                <a:latin typeface="+mn-ea"/>
              </a:rPr>
              <a:t>key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8FAB8B2-0FDE-463D-BCA7-467E727C80EC}" type="slidenum">
              <a:rPr lang="zh-TW" altLang="en-US" smtClean="0"/>
              <a:pPr>
                <a:defRPr/>
              </a:pPr>
              <a:t>4</a:t>
            </a:fld>
            <a:endParaRPr lang="zh-TW" altLang="en-US" dirty="0"/>
          </a:p>
        </p:txBody>
      </p:sp>
      <p:pic>
        <p:nvPicPr>
          <p:cNvPr id="1030" name="Picture 6" descr="React (JavaScript library)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257" y="2134391"/>
            <a:ext cx="2238375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10" descr="File:Crypto key.svg - 來自維基導遊的旅行指南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036" name="Picture 12" descr="Key, Bandipedia, ke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00" y="2028962"/>
            <a:ext cx="2149286" cy="22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問號圖示平面向量插圖設計向量圖形及更多問號圖片- 問號, 圖示, 問- iStock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1494" y="2210062"/>
            <a:ext cx="1887008" cy="188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文字方塊 23"/>
          <p:cNvSpPr txBox="1"/>
          <p:nvPr/>
        </p:nvSpPr>
        <p:spPr>
          <a:xfrm>
            <a:off x="2035540" y="4729959"/>
            <a:ext cx="7544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為每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個陣列項目</a:t>
            </a:r>
            <a:r>
              <a:rPr lang="zh-TW" altLang="en-US" sz="3200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提供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一個 </a:t>
            </a:r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字串</a:t>
            </a:r>
            <a:r>
              <a:rPr lang="zh-TW" altLang="en-US" sz="3200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或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數字以在該陣列的項目中</a:t>
            </a:r>
            <a:r>
              <a:rPr lang="zh-TW" altLang="en-US" sz="32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唯一</a:t>
            </a:r>
            <a:r>
              <a:rPr lang="zh-TW" altLang="en-US" sz="3200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識別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它</a:t>
            </a:r>
            <a:endParaRPr lang="zh-TW" altLang="en-US" sz="3200" dirty="0">
              <a:solidFill>
                <a:schemeClr val="accent6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187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阻止表單預設</a:t>
            </a:r>
            <a:r>
              <a:rPr lang="zh-TW" altLang="en-US" dirty="0" smtClean="0"/>
              <a:t>行為</a:t>
            </a: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8FAB8B2-0FDE-463D-BCA7-467E727C80EC}" type="slidenum">
              <a:rPr lang="zh-TW" altLang="en-US" smtClean="0"/>
              <a:pPr>
                <a:defRPr/>
              </a:pPr>
              <a:t>5</a:t>
            </a:fld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359999" y="2741201"/>
            <a:ext cx="3043825" cy="2427737"/>
            <a:chOff x="1241489" y="2389283"/>
            <a:chExt cx="3183822" cy="2521089"/>
          </a:xfrm>
        </p:grpSpPr>
        <p:sp>
          <p:nvSpPr>
            <p:cNvPr id="10" name="流程圖: 接點 9"/>
            <p:cNvSpPr/>
            <p:nvPr/>
          </p:nvSpPr>
          <p:spPr>
            <a:xfrm>
              <a:off x="1596988" y="2389283"/>
              <a:ext cx="1994597" cy="1685073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 smtClean="0"/>
                <a:t>form</a:t>
              </a:r>
              <a:endParaRPr lang="zh-TW" altLang="en-US" sz="2800" dirty="0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1241489" y="4303111"/>
              <a:ext cx="3183822" cy="607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200" dirty="0" err="1" smtClean="0">
                  <a:solidFill>
                    <a:schemeClr val="accent6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j-cs"/>
                </a:rPr>
                <a:t>onSubmit</a:t>
              </a:r>
              <a:r>
                <a:rPr lang="en-US" altLang="zh-TW" sz="3200" dirty="0" smtClean="0">
                  <a:solidFill>
                    <a:schemeClr val="accent6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j-cs"/>
                </a:rPr>
                <a:t> </a:t>
              </a:r>
              <a:r>
                <a:rPr lang="zh-TW" altLang="en-US" sz="3200" dirty="0" smtClean="0">
                  <a:solidFill>
                    <a:schemeClr val="accent6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j-cs"/>
                </a:rPr>
                <a:t>事件</a:t>
              </a:r>
              <a:endParaRPr lang="zh-TW" altLang="en-US" sz="3200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endParaRPr>
            </a:p>
          </p:txBody>
        </p:sp>
      </p:grpSp>
      <p:grpSp>
        <p:nvGrpSpPr>
          <p:cNvPr id="5" name="群組 4"/>
          <p:cNvGrpSpPr/>
          <p:nvPr/>
        </p:nvGrpSpPr>
        <p:grpSpPr>
          <a:xfrm>
            <a:off x="4092722" y="3042491"/>
            <a:ext cx="3542665" cy="2122892"/>
            <a:chOff x="5846388" y="2786261"/>
            <a:chExt cx="4045908" cy="2122892"/>
          </a:xfrm>
        </p:grpSpPr>
        <p:sp>
          <p:nvSpPr>
            <p:cNvPr id="11" name="流程圖: 替代程序 10"/>
            <p:cNvSpPr/>
            <p:nvPr/>
          </p:nvSpPr>
          <p:spPr>
            <a:xfrm>
              <a:off x="6287220" y="2786261"/>
              <a:ext cx="2811291" cy="1159437"/>
            </a:xfrm>
            <a:prstGeom prst="flowChartAlternateProcess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err="1" smtClean="0"/>
                <a:t>handleSubmit</a:t>
              </a:r>
              <a:endParaRPr lang="zh-TW" altLang="en-US" sz="2400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5846388" y="4324378"/>
              <a:ext cx="40459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3200" dirty="0">
                  <a:solidFill>
                    <a:schemeClr val="accent6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j-cs"/>
                </a:rPr>
                <a:t>阻止表單預設</a:t>
              </a:r>
              <a:r>
                <a:rPr lang="zh-TW" altLang="en-US" sz="3200" dirty="0" smtClean="0">
                  <a:solidFill>
                    <a:schemeClr val="accent6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j-cs"/>
                </a:rPr>
                <a:t>行為</a:t>
              </a:r>
            </a:p>
          </p:txBody>
        </p:sp>
      </p:grpSp>
      <p:sp>
        <p:nvSpPr>
          <p:cNvPr id="18" name="向右箭號 17"/>
          <p:cNvSpPr/>
          <p:nvPr/>
        </p:nvSpPr>
        <p:spPr>
          <a:xfrm>
            <a:off x="2990269" y="3291464"/>
            <a:ext cx="1139868" cy="522152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8812300" y="3009308"/>
            <a:ext cx="2344454" cy="2189395"/>
            <a:chOff x="8812300" y="2645380"/>
            <a:chExt cx="2344454" cy="2321683"/>
          </a:xfrm>
        </p:grpSpPr>
        <p:sp>
          <p:nvSpPr>
            <p:cNvPr id="13" name="流程圖: 替代程序 12"/>
            <p:cNvSpPr/>
            <p:nvPr/>
          </p:nvSpPr>
          <p:spPr>
            <a:xfrm>
              <a:off x="8812300" y="2645380"/>
              <a:ext cx="2344454" cy="1287705"/>
            </a:xfrm>
            <a:prstGeom prst="flowChartAlternateProcess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 smtClean="0"/>
                <a:t>s</a:t>
              </a:r>
              <a:r>
                <a:rPr lang="en-US" altLang="zh-TW" sz="2800" dirty="0"/>
                <a:t>tat</a:t>
              </a:r>
              <a:r>
                <a:rPr lang="en-US" altLang="zh-TW" sz="2800" dirty="0" smtClean="0"/>
                <a:t>e</a:t>
              </a:r>
              <a:endParaRPr lang="zh-TW" altLang="en-US" sz="2800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8864435" y="4346955"/>
              <a:ext cx="2292319" cy="620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3200" dirty="0" smtClean="0">
                  <a:solidFill>
                    <a:schemeClr val="accent6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j-cs"/>
                </a:rPr>
                <a:t>取得 </a:t>
              </a:r>
              <a:r>
                <a:rPr lang="en-US" altLang="zh-TW" sz="3200" dirty="0" smtClean="0">
                  <a:solidFill>
                    <a:schemeClr val="accent6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j-cs"/>
                </a:rPr>
                <a:t>state </a:t>
              </a:r>
              <a:endParaRPr lang="zh-TW" altLang="en-US" sz="3200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endParaRPr>
            </a:p>
          </p:txBody>
        </p:sp>
      </p:grpSp>
      <p:sp>
        <p:nvSpPr>
          <p:cNvPr id="16" name="向右箭號 15"/>
          <p:cNvSpPr/>
          <p:nvPr/>
        </p:nvSpPr>
        <p:spPr>
          <a:xfrm>
            <a:off x="7288920" y="3296997"/>
            <a:ext cx="1139868" cy="522152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4274892" y="5414825"/>
            <a:ext cx="2869274" cy="10240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e.preventDefault</a:t>
            </a:r>
            <a:r>
              <a:rPr lang="en-US" altLang="zh-TW" sz="2400" dirty="0"/>
              <a:t>()</a:t>
            </a:r>
          </a:p>
        </p:txBody>
      </p:sp>
      <p:sp>
        <p:nvSpPr>
          <p:cNvPr id="6" name="圓角矩形 5"/>
          <p:cNvSpPr/>
          <p:nvPr/>
        </p:nvSpPr>
        <p:spPr>
          <a:xfrm>
            <a:off x="4478722" y="1173512"/>
            <a:ext cx="2444274" cy="117780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action</a:t>
            </a:r>
            <a:endParaRPr lang="zh-TW" altLang="en-US" sz="2800" dirty="0"/>
          </a:p>
        </p:txBody>
      </p:sp>
      <p:sp>
        <p:nvSpPr>
          <p:cNvPr id="17" name="向右箭號 16"/>
          <p:cNvSpPr/>
          <p:nvPr/>
        </p:nvSpPr>
        <p:spPr>
          <a:xfrm rot="20671850">
            <a:off x="2843619" y="2246673"/>
            <a:ext cx="1188685" cy="55257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乘號 19"/>
          <p:cNvSpPr/>
          <p:nvPr/>
        </p:nvSpPr>
        <p:spPr>
          <a:xfrm>
            <a:off x="3884483" y="1703149"/>
            <a:ext cx="1160139" cy="112112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5615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6" grpId="0" animBg="1"/>
      <p:bldP spid="9" grpId="0" animBg="1"/>
      <p:bldP spid="6" grpId="0" animBg="1"/>
      <p:bldP spid="17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必</a:t>
            </a:r>
            <a:r>
              <a:rPr lang="zh-TW" altLang="en-US" dirty="0"/>
              <a:t>填欄位</a:t>
            </a:r>
            <a:r>
              <a:rPr lang="zh-TW" altLang="en-US" dirty="0" smtClean="0"/>
              <a:t>檢核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8FAB8B2-0FDE-463D-BCA7-467E727C80EC}" type="slidenum">
              <a:rPr lang="zh-TW" altLang="en-US" smtClean="0"/>
              <a:pPr>
                <a:defRPr/>
              </a:pPr>
              <a:t>6</a:t>
            </a:fld>
            <a:endParaRPr lang="zh-TW" altLang="en-US" dirty="0"/>
          </a:p>
        </p:txBody>
      </p:sp>
      <p:sp>
        <p:nvSpPr>
          <p:cNvPr id="4" name="圓角矩形 3"/>
          <p:cNvSpPr/>
          <p:nvPr/>
        </p:nvSpPr>
        <p:spPr>
          <a:xfrm>
            <a:off x="1891430" y="2361155"/>
            <a:ext cx="2628000" cy="126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input</a:t>
            </a:r>
            <a:endParaRPr lang="zh-TW" altLang="en-US" sz="2800" dirty="0"/>
          </a:p>
        </p:txBody>
      </p:sp>
      <p:sp>
        <p:nvSpPr>
          <p:cNvPr id="5" name="加號 4"/>
          <p:cNvSpPr/>
          <p:nvPr/>
        </p:nvSpPr>
        <p:spPr>
          <a:xfrm>
            <a:off x="5221611" y="2585343"/>
            <a:ext cx="895254" cy="888114"/>
          </a:xfrm>
          <a:prstGeom prst="math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6938458" y="2361155"/>
            <a:ext cx="2628000" cy="1260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required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2424996" y="4165168"/>
            <a:ext cx="67498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form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表單 </a:t>
            </a:r>
            <a:r>
              <a:rPr lang="en-US" altLang="zh-TW" sz="3200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i</a:t>
            </a:r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nput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加上 </a:t>
            </a:r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required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屬性可檢核必填欄位</a:t>
            </a:r>
            <a:endParaRPr lang="zh-TW" altLang="en-US" sz="3200" dirty="0">
              <a:solidFill>
                <a:schemeClr val="accent6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6864" y="4984411"/>
            <a:ext cx="3994337" cy="15675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5656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Input </a:t>
            </a:r>
            <a:r>
              <a:rPr lang="zh-TW" altLang="en-US" dirty="0" smtClean="0"/>
              <a:t>及 </a:t>
            </a:r>
            <a:r>
              <a:rPr lang="en-US" altLang="zh-TW" dirty="0" smtClean="0"/>
              <a:t>Select </a:t>
            </a:r>
            <a:r>
              <a:rPr lang="zh-TW" altLang="en-US" dirty="0" smtClean="0"/>
              <a:t>元件</a:t>
            </a:r>
            <a:r>
              <a:rPr lang="zh-TW" altLang="en-US" dirty="0"/>
              <a:t>化 </a:t>
            </a:r>
            <a:endParaRPr lang="en-US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8FAB8B2-0FDE-463D-BCA7-467E727C80EC}" type="slidenum">
              <a:rPr lang="zh-TW" altLang="en-US" smtClean="0">
                <a:latin typeface="+mn-ea"/>
                <a:ea typeface="+mn-ea"/>
              </a:rPr>
              <a:pPr>
                <a:defRPr/>
              </a:pPr>
              <a:t>7</a:t>
            </a:fld>
            <a:endParaRPr lang="zh-TW" altLang="en-US" dirty="0">
              <a:latin typeface="+mn-ea"/>
              <a:ea typeface="+mn-ea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0"/>
          </p:nvPr>
        </p:nvSpPr>
        <p:spPr>
          <a:xfrm>
            <a:off x="359999" y="1196609"/>
            <a:ext cx="10731500" cy="5520279"/>
          </a:xfrm>
        </p:spPr>
        <p:txBody>
          <a:bodyPr/>
          <a:lstStyle/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541" y="1639982"/>
            <a:ext cx="3989301" cy="1711539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955" y="4691501"/>
            <a:ext cx="5040000" cy="1780746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1067" y="4681739"/>
            <a:ext cx="3880432" cy="1769402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1067" y="1682998"/>
            <a:ext cx="3914164" cy="1585881"/>
          </a:xfrm>
          <a:prstGeom prst="rect">
            <a:avLst/>
          </a:prstGeom>
        </p:spPr>
      </p:pic>
      <p:sp>
        <p:nvSpPr>
          <p:cNvPr id="14" name="向右箭號 13"/>
          <p:cNvSpPr/>
          <p:nvPr/>
        </p:nvSpPr>
        <p:spPr>
          <a:xfrm>
            <a:off x="5752450" y="5157476"/>
            <a:ext cx="833460" cy="57713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向右箭號 14"/>
          <p:cNvSpPr/>
          <p:nvPr/>
        </p:nvSpPr>
        <p:spPr>
          <a:xfrm>
            <a:off x="5784384" y="2251862"/>
            <a:ext cx="833460" cy="57713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圖說文字 27"/>
          <p:cNvSpPr/>
          <p:nvPr/>
        </p:nvSpPr>
        <p:spPr>
          <a:xfrm>
            <a:off x="3025945" y="3651105"/>
            <a:ext cx="2347374" cy="764974"/>
          </a:xfrm>
          <a:prstGeom prst="wedgeRectCallo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html</a:t>
            </a:r>
            <a:r>
              <a:rPr lang="zh-TW" altLang="en-US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原始程式碼較多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矩形圖說文字 28"/>
          <p:cNvSpPr/>
          <p:nvPr/>
        </p:nvSpPr>
        <p:spPr>
          <a:xfrm>
            <a:off x="9229540" y="3651105"/>
            <a:ext cx="1835701" cy="764975"/>
          </a:xfrm>
          <a:prstGeom prst="wedgeRectCallo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程式碼大量減少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2" name="群組 31"/>
          <p:cNvGrpSpPr/>
          <p:nvPr/>
        </p:nvGrpSpPr>
        <p:grpSpPr>
          <a:xfrm>
            <a:off x="1069253" y="947111"/>
            <a:ext cx="1956692" cy="1063501"/>
            <a:chOff x="1069253" y="948042"/>
            <a:chExt cx="1956692" cy="1063501"/>
          </a:xfrm>
        </p:grpSpPr>
        <p:sp>
          <p:nvSpPr>
            <p:cNvPr id="13" name="流程圖: 程序 12"/>
            <p:cNvSpPr/>
            <p:nvPr/>
          </p:nvSpPr>
          <p:spPr>
            <a:xfrm>
              <a:off x="1069253" y="1581509"/>
              <a:ext cx="1313886" cy="430034"/>
            </a:xfrm>
            <a:prstGeom prst="flowChartProcess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矩形圖說文字 29"/>
            <p:cNvSpPr/>
            <p:nvPr/>
          </p:nvSpPr>
          <p:spPr>
            <a:xfrm>
              <a:off x="1845163" y="948042"/>
              <a:ext cx="1180782" cy="520009"/>
            </a:xfrm>
            <a:prstGeom prst="wedgeRectCallo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開頭小寫</a:t>
              </a: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7415833" y="958853"/>
            <a:ext cx="1833136" cy="1174007"/>
            <a:chOff x="7415833" y="958853"/>
            <a:chExt cx="1833136" cy="1174007"/>
          </a:xfrm>
        </p:grpSpPr>
        <p:sp>
          <p:nvSpPr>
            <p:cNvPr id="5" name="流程圖: 程序 4"/>
            <p:cNvSpPr/>
            <p:nvPr/>
          </p:nvSpPr>
          <p:spPr>
            <a:xfrm>
              <a:off x="7415833" y="1724401"/>
              <a:ext cx="1242745" cy="408459"/>
            </a:xfrm>
            <a:prstGeom prst="flowChartProcess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矩形圖說文字 30"/>
            <p:cNvSpPr/>
            <p:nvPr/>
          </p:nvSpPr>
          <p:spPr>
            <a:xfrm>
              <a:off x="8068187" y="958853"/>
              <a:ext cx="1180782" cy="520009"/>
            </a:xfrm>
            <a:prstGeom prst="wedgeRectCallou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開頭大寫</a:t>
              </a:r>
              <a:endPara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6908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8FAB8B2-0FDE-463D-BCA7-467E727C80EC}" type="slidenum">
              <a:rPr lang="zh-TW" altLang="en-US" smtClean="0"/>
              <a:pPr>
                <a:defRPr/>
              </a:pPr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473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0.3|0|0.2|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2|0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|0.2|0.3|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0|1.6|0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1|0.5|0.1|0.2|2.6|0.8|0.8|0.4"/>
</p:tagLst>
</file>

<file path=ppt/theme/theme1.xml><?xml version="1.0" encoding="utf-8"?>
<a:theme xmlns:a="http://schemas.openxmlformats.org/drawingml/2006/main" name="Office 佈景主題">
  <a:themeElements>
    <a:clrScheme name="自訂 1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0070C0"/>
      </a:hlink>
      <a:folHlink>
        <a:srgbClr val="704404"/>
      </a:folHlink>
    </a:clrScheme>
    <a:fontScheme name="自訂 1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訂 1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0070C0"/>
    </a:hlink>
    <a:folHlink>
      <a:srgbClr val="70440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EED51AAED68DEE4B8243AFD4C0334AD0" ma:contentTypeVersion="" ma:contentTypeDescription="建立新的文件。" ma:contentTypeScope="" ma:versionID="29127a4e73e9ea7595108fdca3500b3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8e594fd286184e1c63f15e1117b124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0A4E22-5344-47AD-8D52-4647883CD9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A8FBE6-1AAC-4DF5-96C2-49F6D97406B7}">
  <ds:schemaRefs>
    <ds:schemaRef ds:uri="http://purl.org/dc/terms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44AF2C0-87E7-41F8-8C87-C4B2683E8C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33523</TotalTime>
  <Words>156</Words>
  <Application>Microsoft Office PowerPoint</Application>
  <PresentationFormat>寬螢幕</PresentationFormat>
  <Paragraphs>48</Paragraphs>
  <Slides>8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微軟正黑體</vt:lpstr>
      <vt:lpstr>新細明體</vt:lpstr>
      <vt:lpstr>Arial</vt:lpstr>
      <vt:lpstr>Calibri</vt:lpstr>
      <vt:lpstr>Wingdings</vt:lpstr>
      <vt:lpstr>Office 佈景主題</vt:lpstr>
      <vt:lpstr> REACT 第五堂 建立 form表單</vt:lpstr>
      <vt:lpstr>課程大綱</vt:lpstr>
      <vt:lpstr>input 資料綁定</vt:lpstr>
      <vt:lpstr>渲染列表與 key</vt:lpstr>
      <vt:lpstr>阻止表單預設行為</vt:lpstr>
      <vt:lpstr>必填欄位檢核</vt:lpstr>
      <vt:lpstr>Input 及 Select 元件化 </vt:lpstr>
      <vt:lpstr>PowerPoint 簡報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TonyLiu</dc:creator>
  <cp:lastModifiedBy>李友逸</cp:lastModifiedBy>
  <cp:revision>1736</cp:revision>
  <cp:lastPrinted>2022-07-29T06:02:51Z</cp:lastPrinted>
  <dcterms:created xsi:type="dcterms:W3CDTF">2017-11-14T08:48:39Z</dcterms:created>
  <dcterms:modified xsi:type="dcterms:W3CDTF">2024-08-12T08:39:52Z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0x010100EED51AAED68DEE4B8243AFD4C0334AD0</vt:lpwstr>
  </property>
</Properties>
</file>